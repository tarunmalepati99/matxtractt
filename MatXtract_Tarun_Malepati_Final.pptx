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71" r:id="rId2"/>
    <p:sldId id="272" r:id="rId3"/>
    <p:sldId id="278" r:id="rId4"/>
    <p:sldId id="276" r:id="rId5"/>
    <p:sldId id="275" r:id="rId6"/>
    <p:sldId id="277" r:id="rId7"/>
    <p:sldId id="273" r:id="rId8"/>
    <p:sldId id="274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3" y="-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3">
            <a:alphaModFix/>
          </a:blip>
          <a:srcRect b="17587"/>
          <a:stretch/>
        </p:blipFill>
        <p:spPr>
          <a:xfrm>
            <a:off x="0" y="4144650"/>
            <a:ext cx="3626600" cy="9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58975" y="-5000"/>
            <a:ext cx="718207" cy="12119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1244000"/>
            <a:ext cx="8520600" cy="15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MatXtract: GPU Performance Analysis on NVIDIA RTX 5060</a:t>
            </a:r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747125"/>
            <a:ext cx="8520600" cy="12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5"/>
              <a:buNone/>
            </a:pPr>
            <a:r>
              <a:rPr lang="en" sz="1812" b="1"/>
              <a:t>Tarun Malepati</a:t>
            </a:r>
            <a:endParaRPr sz="1812"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Indiana University • High Performance Computing (B649)</a:t>
            </a:r>
            <a:endParaRPr sz="1600"/>
          </a:p>
          <a:p>
            <a:pPr marL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400"/>
              <a:t>CUDA-Based Sparse Matrix Benchmarking on Ada Lovelace (SM89)</a:t>
            </a:r>
            <a:endParaRPr sz="1400"/>
          </a:p>
          <a:p>
            <a:pPr marL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300" i="1"/>
              <a:t>github.com/TarunMalepati99/MatXtractt</a:t>
            </a:r>
            <a:endParaRPr sz="130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-37500" y="4102200"/>
            <a:ext cx="9218975" cy="1093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5"/>
    </mc:Choice>
    <mc:Fallback xmlns="">
      <p:transition spd="slow" advTm="12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Hardware, Build Environment &amp; Dataset</a:t>
            </a:r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5292853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en" sz="1200" b="1" dirty="0"/>
              <a:t>Hardware Platform</a:t>
            </a:r>
          </a:p>
          <a:p>
            <a:pPr marL="0" lvl="0" indent="0">
              <a:spcAft>
                <a:spcPts val="300"/>
              </a:spcAft>
              <a:buNone/>
            </a:pPr>
            <a:r>
              <a:rPr lang="en" sz="1200" dirty="0"/>
              <a:t>GPU: NVIDIA RTX 5060 Laptop (SM120, Blackwell) — Lenovo Legion</a:t>
            </a:r>
          </a:p>
          <a:p>
            <a:pPr marL="0" lvl="0" indent="0">
              <a:spcAft>
                <a:spcPts val="300"/>
              </a:spcAft>
              <a:buNone/>
            </a:pPr>
            <a:r>
              <a:rPr lang="en" sz="1200" dirty="0"/>
              <a:t>3072 CUDA cores • 8 GB GDDR7 • 288 GB/s BW</a:t>
            </a:r>
          </a:p>
          <a:p>
            <a:pPr marL="0" lvl="0" indent="0">
              <a:spcAft>
                <a:spcPts val="300"/>
              </a:spcAft>
              <a:buNone/>
            </a:pPr>
            <a:r>
              <a:rPr lang="en" sz="1200" dirty="0"/>
              <a:t>CPU: Intel Core i7-13700H • 16 GB DDR5 RAM</a:t>
            </a:r>
            <a:endParaRPr lang="en" sz="1200" b="1" dirty="0"/>
          </a:p>
          <a:p>
            <a:pPr marL="0" lvl="0" indent="0" algn="l" rtl="0">
              <a:spcBef>
                <a:spcPts val="500"/>
              </a:spcBef>
              <a:spcAft>
                <a:spcPts val="600"/>
              </a:spcAft>
              <a:buNone/>
            </a:pPr>
            <a:r>
              <a:rPr lang="en" sz="1600" b="1" dirty="0"/>
              <a:t>Build Configurations</a:t>
            </a:r>
          </a:p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300" b="1" dirty="0"/>
              <a:t>build-baseline  </a:t>
            </a:r>
            <a:r>
              <a:rPr lang="en" sz="1300" dirty="0"/>
              <a:t>Unprofiled reference (sm_89)</a:t>
            </a:r>
          </a:p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300" b="1" dirty="0"/>
              <a:t>build-5060  </a:t>
            </a:r>
            <a:r>
              <a:rPr lang="en" sz="1300" dirty="0"/>
              <a:t>--use_fast_math, -O3, line-info</a:t>
            </a:r>
          </a:p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300" b="1" dirty="0"/>
              <a:t>build-5060-ninja  </a:t>
            </a:r>
            <a:r>
              <a:rPr lang="en" sz="1300" dirty="0"/>
              <a:t>Ninja generator, VS Code integration</a:t>
            </a: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-37500" y="4147225"/>
            <a:ext cx="9218975" cy="10483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475D2964-6D24-9019-9233-D3419397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8830692D-EF0E-918F-49C8-10B3BC82E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87" y="2592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Hardware, Build Environment &amp; Dataset</a:t>
            </a:r>
            <a:endParaRPr dirty="0"/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5112B9E8-DBBC-86EC-0EDC-52014D6ED203}"/>
              </a:ext>
            </a:extLst>
          </p:cNvPr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-37500" y="4147225"/>
            <a:ext cx="9218975" cy="10483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C30CB5-77F5-A7F6-A1F2-3B2F2219A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536777"/>
              </p:ext>
            </p:extLst>
          </p:nvPr>
        </p:nvGraphicFramePr>
        <p:xfrm>
          <a:off x="359431" y="681005"/>
          <a:ext cx="7625088" cy="3421384"/>
        </p:xfrm>
        <a:graphic>
          <a:graphicData uri="http://schemas.openxmlformats.org/drawingml/2006/table">
            <a:tbl>
              <a:tblPr/>
              <a:tblGrid>
                <a:gridCol w="1467187">
                  <a:extLst>
                    <a:ext uri="{9D8B030D-6E8A-4147-A177-3AD203B41FA5}">
                      <a16:colId xmlns:a16="http://schemas.microsoft.com/office/drawing/2014/main" val="3241543359"/>
                    </a:ext>
                  </a:extLst>
                </a:gridCol>
                <a:gridCol w="1467187">
                  <a:extLst>
                    <a:ext uri="{9D8B030D-6E8A-4147-A177-3AD203B41FA5}">
                      <a16:colId xmlns:a16="http://schemas.microsoft.com/office/drawing/2014/main" val="3070883701"/>
                    </a:ext>
                  </a:extLst>
                </a:gridCol>
                <a:gridCol w="1467187">
                  <a:extLst>
                    <a:ext uri="{9D8B030D-6E8A-4147-A177-3AD203B41FA5}">
                      <a16:colId xmlns:a16="http://schemas.microsoft.com/office/drawing/2014/main" val="1596955869"/>
                    </a:ext>
                  </a:extLst>
                </a:gridCol>
                <a:gridCol w="1467187">
                  <a:extLst>
                    <a:ext uri="{9D8B030D-6E8A-4147-A177-3AD203B41FA5}">
                      <a16:colId xmlns:a16="http://schemas.microsoft.com/office/drawing/2014/main" val="3132631173"/>
                    </a:ext>
                  </a:extLst>
                </a:gridCol>
                <a:gridCol w="1756340">
                  <a:extLst>
                    <a:ext uri="{9D8B030D-6E8A-4147-A177-3AD203B41FA5}">
                      <a16:colId xmlns:a16="http://schemas.microsoft.com/office/drawing/2014/main" val="1872596025"/>
                    </a:ext>
                  </a:extLst>
                </a:gridCol>
              </a:tblGrid>
              <a:tr h="2304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Matrix Name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Rows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Non-zeros (NNZ)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665867"/>
                  </a:ext>
                </a:extLst>
              </a:tr>
              <a:tr h="3673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ash85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523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Holland survey matrix (Symmetric pattern)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438162"/>
                  </a:ext>
                </a:extLst>
              </a:tr>
              <a:tr h="3673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bcsstk14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1,806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1,806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63,454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Stiffness matrix - Roof of Omni Coliseum, Atlanta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040076"/>
                  </a:ext>
                </a:extLst>
              </a:tr>
              <a:tr h="3673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cnr-2000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325,557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325,557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3,216,152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 crawl of Italian CNR domain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48504"/>
                  </a:ext>
                </a:extLst>
              </a:tr>
              <a:tr h="3673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com-Amazon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334,863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334,863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1,851,744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Amazon product co-purchasing network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581914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com-Youtube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1,134,890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1,134,890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2,987,624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Youtube online social network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607538"/>
                  </a:ext>
                </a:extLst>
              </a:tr>
              <a:tr h="3555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poisson3Da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13,514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13,514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352,762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3D Poisson problem (FEMLAB)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158822"/>
                  </a:ext>
                </a:extLst>
              </a:tr>
              <a:tr h="3673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web-Stanford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281,903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281,903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2,312,497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Stanford University web graph (2002)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184729"/>
                  </a:ext>
                </a:extLst>
              </a:tr>
              <a:tr h="36737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west0479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479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479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1,888</a:t>
                      </a:r>
                    </a:p>
                  </a:txBody>
                  <a:tcPr marL="62493" marR="39058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 stage column section (Chemical Engineering)</a:t>
                      </a:r>
                    </a:p>
                  </a:txBody>
                  <a:tcPr marL="62493" marR="62493" marT="52078" marB="52078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57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860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F514-7EB9-8418-FAB1-A74F99BE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Runtime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2C0C2-B81A-4239-1A2D-4F6AF0FB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B712C-BCDF-8C5B-4D43-44DF845578A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965B0F-C5D8-573A-DB32-FB1F415C3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43000"/>
            <a:ext cx="8489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7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673B-203F-E998-C771-F4B45FB1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70" y="4230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N" dirty="0"/>
              <a:t>RTX 5060 — Mode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BDCFB-1A94-7F8C-C1D2-22B06973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36" y="897125"/>
            <a:ext cx="4114800" cy="3657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E2F04B-2209-7053-339E-12094892942D}"/>
              </a:ext>
            </a:extLst>
          </p:cNvPr>
          <p:cNvSpPr txBox="1"/>
          <p:nvPr/>
        </p:nvSpPr>
        <p:spPr>
          <a:xfrm>
            <a:off x="4849702" y="1325541"/>
            <a:ext cx="386612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Baseline</a:t>
            </a:r>
          </a:p>
          <a:p>
            <a:r>
              <a:rPr lang="en-US" sz="1100" dirty="0"/>
              <a:t>The </a:t>
            </a:r>
            <a:r>
              <a:rPr lang="en-US" sz="1100" b="1" dirty="0"/>
              <a:t>Baseline</a:t>
            </a:r>
            <a:r>
              <a:rPr lang="en-US" sz="1100" dirty="0"/>
              <a:t> (or </a:t>
            </a:r>
            <a:r>
              <a:rPr lang="en-US" sz="1100" dirty="0" err="1"/>
              <a:t>cuSPARSE</a:t>
            </a:r>
            <a:r>
              <a:rPr lang="en-US" sz="1100" dirty="0"/>
              <a:t>) mode is the "out-of-the-box" reference using standard, un-tuned CUDA kernels that rely on NVIDIA’s pre-optimized libraries for general-purpose execution.</a:t>
            </a:r>
          </a:p>
          <a:p>
            <a:r>
              <a:rPr lang="en-US" sz="1100" b="1" dirty="0"/>
              <a:t>Manual</a:t>
            </a:r>
          </a:p>
          <a:p>
            <a:r>
              <a:rPr lang="en-US" sz="1100" dirty="0"/>
              <a:t>The </a:t>
            </a:r>
            <a:r>
              <a:rPr lang="en-US" sz="1100" b="1" dirty="0"/>
              <a:t>Manual</a:t>
            </a:r>
            <a:r>
              <a:rPr lang="en-US" sz="1100" dirty="0"/>
              <a:t> mode uses fixed, human-defined heuristics (such as forced blocking or specific tiling sizes) applied uniformly across all datasets regardless of their unique sparsity patterns.</a:t>
            </a:r>
          </a:p>
          <a:p>
            <a:r>
              <a:rPr lang="en-US" sz="1100" b="1" dirty="0"/>
              <a:t>Bayesian</a:t>
            </a:r>
          </a:p>
          <a:p>
            <a:r>
              <a:rPr lang="en-US" sz="1100" dirty="0"/>
              <a:t>The </a:t>
            </a:r>
            <a:r>
              <a:rPr lang="en-US" sz="1100" b="1" dirty="0"/>
              <a:t>Bayesian</a:t>
            </a:r>
            <a:r>
              <a:rPr lang="en-US" sz="1100" dirty="0"/>
              <a:t> (</a:t>
            </a:r>
            <a:r>
              <a:rPr lang="en-US" sz="1100" dirty="0" err="1"/>
              <a:t>cruxBO</a:t>
            </a:r>
            <a:r>
              <a:rPr lang="en-US" sz="1100" dirty="0"/>
              <a:t>) mode uses machine learning to perform a per-matrix search, automatically identifying the specific hyperparameters (like </a:t>
            </a:r>
            <a:r>
              <a:rPr lang="en-US" sz="1100" dirty="0" err="1"/>
              <a:t>col_frac</a:t>
            </a:r>
            <a:r>
              <a:rPr lang="en-US" sz="1100" dirty="0"/>
              <a:t> or </a:t>
            </a:r>
            <a:r>
              <a:rPr lang="en-US" sz="1100" dirty="0" err="1"/>
              <a:t>hot_frac</a:t>
            </a:r>
            <a:r>
              <a:rPr lang="en-US" sz="1100" dirty="0"/>
              <a:t>) that minimize latency for that exact matrix structure.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0841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B46-ABD4-0EE3-BCEF-941AEEB84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55" y="640549"/>
            <a:ext cx="8520600" cy="57693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Bayesian vs Baseline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A7A09-8434-318A-437E-F31C6510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81528"/>
            <a:ext cx="8520600" cy="298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4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Benchmark Results: Runtime by Mode &amp; Matrix</a:t>
            </a:r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2"/>
          </p:nvPr>
        </p:nvSpPr>
        <p:spPr>
          <a:xfrm>
            <a:off x="4878634" y="876044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400"/>
              </a:spcAft>
              <a:buNone/>
            </a:pPr>
            <a:r>
              <a:rPr lang="en" sz="1200" b="1" dirty="0"/>
              <a:t>Per-Matrix Runtime (ms) by Mode</a:t>
            </a:r>
          </a:p>
          <a:p>
            <a:pPr marL="0" lvl="0" indent="0">
              <a:spcAft>
                <a:spcPts val="400"/>
              </a:spcAft>
              <a:buNone/>
            </a:pPr>
            <a:endParaRPr lang="en" sz="1200" b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" sz="1000" i="1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i="1" dirty="0"/>
              <a:t>*</a:t>
            </a: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-37500" y="4147225"/>
            <a:ext cx="9218975" cy="10483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5786F0-E7FB-30EF-C46F-45D9A6FCF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617907"/>
              </p:ext>
            </p:extLst>
          </p:nvPr>
        </p:nvGraphicFramePr>
        <p:xfrm>
          <a:off x="4788146" y="1171570"/>
          <a:ext cx="3383279" cy="2956560"/>
        </p:xfrm>
        <a:graphic>
          <a:graphicData uri="http://schemas.openxmlformats.org/drawingml/2006/table">
            <a:tbl>
              <a:tblPr/>
              <a:tblGrid>
                <a:gridCol w="650996">
                  <a:extLst>
                    <a:ext uri="{9D8B030D-6E8A-4147-A177-3AD203B41FA5}">
                      <a16:colId xmlns:a16="http://schemas.microsoft.com/office/drawing/2014/main" val="3317696919"/>
                    </a:ext>
                  </a:extLst>
                </a:gridCol>
                <a:gridCol w="521849">
                  <a:extLst>
                    <a:ext uri="{9D8B030D-6E8A-4147-A177-3AD203B41FA5}">
                      <a16:colId xmlns:a16="http://schemas.microsoft.com/office/drawing/2014/main" val="1494865785"/>
                    </a:ext>
                  </a:extLst>
                </a:gridCol>
                <a:gridCol w="780143">
                  <a:extLst>
                    <a:ext uri="{9D8B030D-6E8A-4147-A177-3AD203B41FA5}">
                      <a16:colId xmlns:a16="http://schemas.microsoft.com/office/drawing/2014/main" val="4212646310"/>
                    </a:ext>
                  </a:extLst>
                </a:gridCol>
                <a:gridCol w="650996">
                  <a:extLst>
                    <a:ext uri="{9D8B030D-6E8A-4147-A177-3AD203B41FA5}">
                      <a16:colId xmlns:a16="http://schemas.microsoft.com/office/drawing/2014/main" val="1419950323"/>
                    </a:ext>
                  </a:extLst>
                </a:gridCol>
                <a:gridCol w="779295">
                  <a:extLst>
                    <a:ext uri="{9D8B030D-6E8A-4147-A177-3AD203B41FA5}">
                      <a16:colId xmlns:a16="http://schemas.microsoft.com/office/drawing/2014/main" val="1811827737"/>
                    </a:ext>
                  </a:extLst>
                </a:gridCol>
              </a:tblGrid>
              <a:tr h="3432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Matrix Name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Baseline (ms)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Optimized (ms)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Speedup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141041"/>
                  </a:ext>
                </a:extLst>
              </a:tr>
              <a:tr h="2376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ash85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0.0122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0.0094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1.29x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GAIN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627087"/>
                  </a:ext>
                </a:extLst>
              </a:tr>
              <a:tr h="2376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bcsstk14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0.0125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0.0114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1.10x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GAIN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055111"/>
                  </a:ext>
                </a:extLst>
              </a:tr>
              <a:tr h="2376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cnr-2000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0.1807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0.1857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0.97x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247119"/>
                  </a:ext>
                </a:extLst>
              </a:tr>
              <a:tr h="3432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com-Amazon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0.1479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0.1511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0.98x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898487"/>
                  </a:ext>
                </a:extLst>
              </a:tr>
              <a:tr h="3432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com-Youtube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0.5594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0.5456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1.03x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GAIN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849730"/>
                  </a:ext>
                </a:extLst>
              </a:tr>
              <a:tr h="2376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poisson3Da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0.0194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0.0194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1.00x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367885"/>
                  </a:ext>
                </a:extLst>
              </a:tr>
              <a:tr h="3432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web-Stanford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0.1993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0.1528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1.30x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GAIN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529357"/>
                  </a:ext>
                </a:extLst>
              </a:tr>
              <a:tr h="2376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west0479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0.0134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0.0111</a:t>
                      </a: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1.21x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57150"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GAIN</a:t>
                      </a:r>
                    </a:p>
                  </a:txBody>
                  <a:tcPr marT="76200" marB="76200" anchor="ctr">
                    <a:lnL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23436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266C246-5CF7-D06C-67B0-B2E132C07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6442" y="1303612"/>
            <a:ext cx="4317450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web-Stanford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matrix saw the most significant improvement with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1.30x speedup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dropping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0.1993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0.1528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ms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Small, irregular matrices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ash85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west0479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achieved gains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1.29x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1.21x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respectively, as the optimized build reduced instruction overhead 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SM120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Large datasets like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cnr-2000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com-Amazon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experienced regressions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0.97x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0.98x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), likely due to optimization flags disrupting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memory coalescing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the 288 GB/s bandwidth interface.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1643500" y="451625"/>
            <a:ext cx="452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Speedup Analysis, Findings &amp; Future Work</a:t>
            </a:r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600" b="1" dirty="0"/>
              <a:t>Speedup Summary (Baseline vs. Optimized)</a:t>
            </a:r>
          </a:p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200" b="1" dirty="0"/>
              <a:t>Metric                             Value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200" dirty="0"/>
              <a:t>Mean speedup                      1.020x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200" dirty="0"/>
              <a:t>Median speedup                   1.014x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200" dirty="0"/>
              <a:t>Cases &gt; 1.0 (faster)            11 / 20 (55%)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200" dirty="0"/>
              <a:t>Best speedup                      1.430x (west0479/cruxBO)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200" dirty="0"/>
              <a:t>Largest regression               0.453x (poisson3Da/cruxBO)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200" dirty="0"/>
              <a:t>Nsight Systems traces            20 / 20 (100%)</a:t>
            </a:r>
          </a:p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endParaRPr lang="en" sz="1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049455A-953F-CB24-FA3D-9B7E8AE77937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4572000" y="1310517"/>
            <a:ext cx="4093384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b="1" dirty="0">
              <a:solidFill>
                <a:schemeClr val="tx1"/>
              </a:solidFill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Baseline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performed worse on irregular matrices because its un-tuned kernels do not account for specific sparsity patterns like column density or "hot" data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Bayesian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cruxBO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beat the baseline by using machine learning to find the exact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Col Frac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Hot Frac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values that optimize memory access for a specific matrix structure.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Local PC testing 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RTX 5060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provided "bare-metal" performance results with low latency, whereas cloud execution would likely offer higher HBM </a:t>
            </a:r>
            <a:r>
              <a:rPr lang="en-US" dirty="0"/>
              <a:t>(High Bandwidth Memory)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bandwidth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618</Words>
  <Application>Microsoft Office PowerPoint</Application>
  <PresentationFormat>On-screen Show (16:9)</PresentationFormat>
  <Paragraphs>143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Google Sans Text</vt:lpstr>
      <vt:lpstr>Simple Light</vt:lpstr>
      <vt:lpstr>MatXtract: GPU Performance Analysis on NVIDIA RTX 5060</vt:lpstr>
      <vt:lpstr>Hardware, Build Environment &amp; Dataset</vt:lpstr>
      <vt:lpstr>Hardware, Build Environment &amp; Dataset</vt:lpstr>
      <vt:lpstr>Runtime Comparison</vt:lpstr>
      <vt:lpstr>RTX 5060 — Mode Comparison</vt:lpstr>
      <vt:lpstr>Bayesian vs Baseline</vt:lpstr>
      <vt:lpstr>Benchmark Results: Runtime by Mode &amp; Matrix</vt:lpstr>
      <vt:lpstr>Speedup Analysis, Findings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Malepati, Tarun</cp:lastModifiedBy>
  <cp:revision>6</cp:revision>
  <dcterms:modified xsi:type="dcterms:W3CDTF">2026-04-23T15:22:23Z</dcterms:modified>
</cp:coreProperties>
</file>